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188720"/>
            <a:ext cx="2286000" cy="2286000"/>
          </a:xfrm>
          <a:prstGeom prst="ellipse">
            <a:avLst/>
          </a:prstGeom>
          <a:ln w="38100">
            <a:solidFill>
              <a:srgbClr val="F2B544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2926080"/>
            <a:ext cx="658368" cy="658368"/>
          </a:xfrm>
          <a:prstGeom prst="line">
            <a:avLst/>
          </a:prstGeom>
          <a:noFill/>
          <a:ln w="76200">
            <a:solidFill>
              <a:srgbClr val="F2B544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특수교사 직무역량 강화 · CASE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" y="1463040"/>
            <a:ext cx="6400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쉽게 당하고,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늦게 발견된다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장애학생 디지털 성범죄 예방과 교사의 역할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 재 석  ·  노성중학교 교사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들어가며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 · 뉴스 영상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137160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10151D"/>
          </a:solidFill>
          <a:ln w="19050">
            <a:solidFill>
              <a:srgbClr val="2A32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240280"/>
            <a:ext cx="694944" cy="694944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20" name="Text 18"/>
          <p:cNvSpPr/>
          <p:nvPr/>
        </p:nvSpPr>
        <p:spPr>
          <a:xfrm>
            <a:off x="4261104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N번방, 세상에 드러나다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14400" y="4498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뉴스 영상 삽입 위치   ·   출처: 방송 보도 (편집본)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들어가며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N번방 · 수법 해부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12984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친절한 접근이, 곧 함정이었다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818388" y="26974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B2433"/>
          </a:solidFill>
          <a:ln w="15875">
            <a:solidFill>
              <a:srgbClr val="F2B54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" y="26974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친절한 제안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10028" y="2697480"/>
            <a:ext cx="246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56916" y="26974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B2433"/>
          </a:solidFill>
          <a:ln w="15875">
            <a:solidFill>
              <a:srgbClr val="F2B54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56916" y="26974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48556" y="2697480"/>
            <a:ext cx="246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695444" y="26974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2A1416"/>
          </a:solidFill>
          <a:ln w="15875">
            <a:solidFill>
              <a:srgbClr val="E5484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95444" y="26974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C7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협박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87084" y="2697480"/>
            <a:ext cx="246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33972" y="26974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2A1416"/>
          </a:solidFill>
          <a:ln w="15875">
            <a:solidFill>
              <a:srgbClr val="E5484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33972" y="26974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C7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성착취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280160" y="402336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1C1517"/>
          </a:solidFill>
          <a:ln w="12700">
            <a:solidFill>
              <a:srgbClr val="4A2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40233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— </a:t>
            </a:r>
            <a:pPr algn="ctr" indent="0" marL="0">
              <a:buNone/>
            </a:pPr>
            <a:r>
              <a:rPr lang="en-US" sz="1550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피해자가 또 다른 피해자를 끌어들이는 ‘가해’에까지 동원되었다.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들어가며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 · 뉴스 영상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137160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10151D"/>
          </a:solidFill>
          <a:ln w="19050">
            <a:solidFill>
              <a:srgbClr val="2A32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240280"/>
            <a:ext cx="694944" cy="694944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20" name="Text 18"/>
          <p:cNvSpPr/>
          <p:nvPr/>
        </p:nvSpPr>
        <p:spPr>
          <a:xfrm>
            <a:off x="4261104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2024, 딥페이크가 학교로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14400" y="4498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뉴스 영상 삽입 위치   ·   출처: 방송 보도 (편집본)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들어가며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· 학교로 들어온 딥페이크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12618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줄의 링크가, 7명의 가해로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1005840" y="2331720"/>
            <a:ext cx="7132320" cy="1627632"/>
          </a:xfrm>
          <a:prstGeom prst="roundRect">
            <a:avLst>
              <a:gd name="adj" fmla="val 393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25296" y="2487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중학교의 실제 사례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25296" y="2798064"/>
            <a:ext cx="6693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학교 친구의 “재밌으니 한번 해봐” 링크 → 번역 앱으로 외국어 봇을 따라가 동급생 얼굴을 합성 → 봇이 ‘더 하려면 초대하라’ 하자 친구들을 끌어들임 → 관련 학생 최소 7명. 학교가 안 것은 일주일 뒤였다.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 뒤에도, 피해 학생과 가해 학생이 같은 교실에서 지내야 했다.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성범죄는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교실 안에 있다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8A6A2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457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61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3000" dirty="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들어가며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" y="20116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특수교육에 던지는</a:t>
            </a:r>
            <a:endParaRPr lang="en-US" sz="47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경고</a:t>
            </a:r>
            <a:endParaRPr lang="en-US" sz="4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네 가지 경고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1755648"/>
            <a:ext cx="1234440" cy="1234440"/>
          </a:xfrm>
          <a:prstGeom prst="ellipse">
            <a:avLst/>
          </a:prstGeom>
          <a:solidFill>
            <a:srgbClr val="F2B544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75564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2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331720" y="1700784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학생도 피해자가 될 수 있다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2350008" y="3154680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가해자의 ‘친절한 접근’과 심리적 지배(가스라이팅)에 가장 취약한 이들이 바로 우리 학생이다. 범죄인 줄도 모른 채 표적이 된다.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네 가지 경고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1755648"/>
            <a:ext cx="1234440" cy="1234440"/>
          </a:xfrm>
          <a:prstGeom prst="ellipse">
            <a:avLst/>
          </a:prstGeom>
          <a:solidFill>
            <a:srgbClr val="F2B544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75564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2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331720" y="1700784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학생도 가해자가 될 수 있다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2350008" y="3154680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기술이 범죄에 ‘놀이의 탈’을 씌운다. 대가성 링크나 또래의 유혹에 이끌려, 자신도 모르게 가해 행위에 동참할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네 가지 경고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1755648"/>
            <a:ext cx="1234440" cy="1234440"/>
          </a:xfrm>
          <a:prstGeom prst="ellipse">
            <a:avLst/>
          </a:prstGeom>
          <a:solidFill>
            <a:srgbClr val="F2B544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75564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2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331720" y="1700784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교사도 예외는 아니다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2350008" y="3154680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칼날은 학생을 넘어 교사에게 향한다. 일상·교육활동 사진이 노출되기 쉬운 특수교사 역시 범죄의 표적이 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네 가지 경고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1755648"/>
            <a:ext cx="1234440" cy="1234440"/>
          </a:xfrm>
          <a:prstGeom prst="ellipse">
            <a:avLst/>
          </a:prstGeom>
          <a:solidFill>
            <a:srgbClr val="E5484D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75564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2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331720" y="1700784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예방 가이드가 필요하다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2350008" y="3154680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비장애 학생 중심의 기존 예방교육·사후 징계는 우리 학생에게 온전히 적용되기 어렵다. 특수교육 현장만의 대응 매뉴얼이 시급하다.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4" name="Shape 2"/>
          <p:cNvSpPr/>
          <p:nvPr/>
        </p:nvSpPr>
        <p:spPr>
          <a:xfrm>
            <a:off x="8485632" y="29260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5" name="Shape 3"/>
          <p:cNvSpPr/>
          <p:nvPr/>
        </p:nvSpPr>
        <p:spPr>
          <a:xfrm>
            <a:off x="8827618" y="292608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8" name="Shape 6"/>
          <p:cNvSpPr/>
          <p:nvPr/>
        </p:nvSpPr>
        <p:spPr>
          <a:xfrm>
            <a:off x="8485632" y="4827118"/>
            <a:ext cx="365760" cy="23774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9" name="Shape 7"/>
          <p:cNvSpPr/>
          <p:nvPr/>
        </p:nvSpPr>
        <p:spPr>
          <a:xfrm>
            <a:off x="8827618" y="4485132"/>
            <a:ext cx="23774" cy="365760"/>
          </a:xfrm>
          <a:prstGeom prst="rect">
            <a:avLst/>
          </a:prstGeom>
          <a:solidFill>
            <a:srgbClr val="5A4A1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0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Ⅰ · 들어가며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9188" y="397764"/>
            <a:ext cx="155448" cy="155448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2094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526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958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220" y="425196"/>
            <a:ext cx="100584" cy="100584"/>
          </a:xfrm>
          <a:prstGeom prst="ellipse">
            <a:avLst/>
          </a:prstGeom>
          <a:solidFill>
            <a:srgbClr val="333D4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B5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오늘, 세 가지를 배웁니다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420624" y="228600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2542032"/>
            <a:ext cx="603504" cy="603504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" y="32735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위협을 이해한다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" y="37033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유형 · 처벌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6976" y="228600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542032"/>
            <a:ext cx="603504" cy="603504"/>
          </a:xfrm>
          <a:prstGeom prst="ellipse">
            <a:avLst/>
          </a:prstGeom>
          <a:solidFill>
            <a:srgbClr val="F2B544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74720" y="32735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발견하고 대응한다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474720" y="37033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취약성 · 신호 · 절차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Ⅲ·Ⅳ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53328" y="228600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2542032"/>
            <a:ext cx="603504" cy="603504"/>
          </a:xfrm>
          <a:prstGeom prst="ellipse">
            <a:avLst/>
          </a:prstGeom>
          <a:solidFill>
            <a:srgbClr val="43C6A0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91072" y="32735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말로 가르친다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291072" y="37033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맞춤 예방교육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장애학생 디지털 성범죄 예방 — 발표자료(샘플 v2)</dc:title>
  <dc:subject>PptxGenJS Presentation</dc:subject>
  <dc:creator>최재석</dc:creator>
  <cp:lastModifiedBy>최재석</cp:lastModifiedBy>
  <cp:revision>1</cp:revision>
  <dcterms:created xsi:type="dcterms:W3CDTF">2026-06-29T14:13:31Z</dcterms:created>
  <dcterms:modified xsi:type="dcterms:W3CDTF">2026-06-29T14:13:31Z</dcterms:modified>
</cp:coreProperties>
</file>